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市值佔比</c:v>
                </c:pt>
              </c:strCache>
            </c:strRef>
          </c:tx>
          <c:dPt>
            <c:idx val="0"/>
            <c:spPr>
              <a:solidFill>
                <a:srgbClr val="6D8CFF"/>
              </a:solidFill>
              <a:ln w="25400">
                <a:solidFill>
                  <a:srgbClr val="0D0E15"/>
                </a:solidFill>
              </a:ln>
            </c:spPr>
          </c:dPt>
          <c:dPt>
            <c:idx val="1"/>
            <c:spPr>
              <a:solidFill>
                <a:srgbClr val="35D6A0"/>
              </a:solidFill>
              <a:ln w="25400">
                <a:solidFill>
                  <a:srgbClr val="0D0E15"/>
                </a:solidFill>
              </a:ln>
            </c:spPr>
          </c:dPt>
          <c:dPt>
            <c:idx val="2"/>
            <c:spPr>
              <a:solidFill>
                <a:srgbClr val="F7B34C"/>
              </a:solidFill>
              <a:ln w="25400">
                <a:solidFill>
                  <a:srgbClr val="0D0E15"/>
                </a:solidFill>
              </a:ln>
            </c:spPr>
          </c:dPt>
          <c:dPt>
            <c:idx val="3"/>
            <c:spPr>
              <a:solidFill>
                <a:srgbClr val="FF5D5D"/>
              </a:solidFill>
              <a:ln w="25400">
                <a:solidFill>
                  <a:srgbClr val="0D0E15"/>
                </a:solidFill>
              </a:ln>
            </c:spPr>
          </c:dPt>
          <c:dPt>
            <c:idx val="4"/>
            <c:spPr>
              <a:solidFill>
                <a:srgbClr val="A06CFF"/>
              </a:solidFill>
              <a:ln w="25400">
                <a:solidFill>
                  <a:srgbClr val="0D0E15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2892 第一金</c:v>
                </c:pt>
                <c:pt idx="1">
                  <c:v>2330 台積電</c:v>
                </c:pt>
                <c:pt idx="2">
                  <c:v>6456 GIS-KY</c:v>
                </c:pt>
                <c:pt idx="3">
                  <c:v>4961 天鈺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57.0</c:v>
                </c:pt>
                <c:pt idx="1">
                  <c:v>27.0</c:v>
                </c:pt>
                <c:pt idx="2">
                  <c:v>7.9</c:v>
                </c:pt>
                <c:pt idx="3">
                  <c:v>5.1</c:v>
                </c:pt>
                <c:pt idx="4">
                  <c:v>3.0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3374" y="3625596"/>
            <a:ext cx="18288" cy="532296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308" y="3771900"/>
            <a:ext cx="148420" cy="239688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8411" y="3742547"/>
            <a:ext cx="18288" cy="878446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3344" y="4011588"/>
            <a:ext cx="148420" cy="340364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448" y="4042095"/>
            <a:ext cx="18288" cy="722894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8381" y="4351953"/>
            <a:ext cx="148420" cy="103179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8484" y="4213621"/>
            <a:ext cx="18288" cy="664368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3418" y="4455132"/>
            <a:ext cx="148420" cy="181347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3521" y="4453489"/>
            <a:ext cx="18288" cy="690555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8455" y="4636479"/>
            <a:ext cx="148420" cy="324575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48558" y="4640592"/>
            <a:ext cx="18288" cy="610858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83492" y="4930988"/>
            <a:ext cx="148420" cy="4572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3595" y="4225823"/>
            <a:ext cx="18288" cy="1006794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8529" y="4527452"/>
            <a:ext cx="148420" cy="403536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78632" y="4074266"/>
            <a:ext cx="18288" cy="662375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13566" y="4283456"/>
            <a:ext cx="148420" cy="243995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43669" y="3994712"/>
            <a:ext cx="18288" cy="50657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78602" y="4212542"/>
            <a:ext cx="148420" cy="7091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08706" y="3661411"/>
            <a:ext cx="18288" cy="85563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43639" y="3965913"/>
            <a:ext cx="148420" cy="246628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73742" y="3512096"/>
            <a:ext cx="18288" cy="739402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08676" y="3797681"/>
            <a:ext cx="148420" cy="168231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38779" y="3623976"/>
            <a:ext cx="18288" cy="64663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3713" y="3797681"/>
            <a:ext cx="148420" cy="299222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03816" y="3847833"/>
            <a:ext cx="18288" cy="90722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38750" y="4096904"/>
            <a:ext cx="148420" cy="40908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8853" y="4195336"/>
            <a:ext cx="18288" cy="732254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3787" y="4505984"/>
            <a:ext cx="148420" cy="110958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33890" y="4354409"/>
            <a:ext cx="18288" cy="62052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68824" y="4616943"/>
            <a:ext cx="148420" cy="95452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8927" y="4556629"/>
            <a:ext cx="18288" cy="540395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33860" y="4712395"/>
            <a:ext cx="148420" cy="22886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63964" y="4580098"/>
            <a:ext cx="18288" cy="63630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8897" y="4855240"/>
            <a:ext cx="148420" cy="86018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29000" y="4088520"/>
            <a:ext cx="18288" cy="1075245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63934" y="4397046"/>
            <a:ext cx="148420" cy="45819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4037" y="3883953"/>
            <a:ext cx="18288" cy="746727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28971" y="4117588"/>
            <a:ext cx="148420" cy="279458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59074" y="3908960"/>
            <a:ext cx="18288" cy="400781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94008" y="4101113"/>
            <a:ext cx="148420" cy="4572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24111" y="3671241"/>
            <a:ext cx="18288" cy="72460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59045" y="3965972"/>
            <a:ext cx="148420" cy="13514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89148" y="3574337"/>
            <a:ext cx="18288" cy="689876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24082" y="3872579"/>
            <a:ext cx="148420" cy="93392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54185" y="3672237"/>
            <a:ext cx="18288" cy="739895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89118" y="3872579"/>
            <a:ext cx="148420" cy="339212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9222" y="3985558"/>
            <a:ext cx="18288" cy="90027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154155" y="4211791"/>
            <a:ext cx="148420" cy="44780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84258" y="4352742"/>
            <a:ext cx="18288" cy="708394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19192" y="4659594"/>
            <a:ext cx="148420" cy="9469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49295" y="4466655"/>
            <a:ext cx="18288" cy="567942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684229" y="4746968"/>
            <a:ext cx="148420" cy="4572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14332" y="4582638"/>
            <a:ext cx="18288" cy="45393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49266" y="4746968"/>
            <a:ext cx="148420" cy="12527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79369" y="4486074"/>
            <a:ext cx="18288" cy="64246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214303" y="4742367"/>
            <a:ext cx="148420" cy="129875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44406" y="3948413"/>
            <a:ext cx="18288" cy="1104848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79339" y="4259309"/>
            <a:ext cx="148420" cy="483057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09443" y="3717104"/>
            <a:ext cx="18288" cy="797847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44376" y="3972746"/>
            <a:ext cx="148420" cy="28656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74479" y="3807549"/>
            <a:ext cx="18288" cy="38567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09413" y="3972746"/>
            <a:ext cx="148420" cy="55276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39516" y="3732423"/>
            <a:ext cx="18288" cy="576416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74450" y="4013241"/>
            <a:ext cx="148420" cy="4572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04553" y="3682831"/>
            <a:ext cx="18288" cy="637067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539487" y="3989489"/>
            <a:ext cx="148420" cy="4572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69590" y="3764019"/>
            <a:ext cx="18288" cy="80469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04524" y="3989489"/>
            <a:ext cx="148420" cy="353753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134627" y="4142078"/>
            <a:ext cx="18288" cy="856634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69561" y="4343242"/>
            <a:ext cx="148420" cy="454304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399664" y="4498972"/>
            <a:ext cx="18288" cy="65465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334597" y="4797547"/>
            <a:ext cx="148420" cy="5750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664701" y="4441950"/>
            <a:ext cx="18288" cy="707450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599634" y="4736302"/>
            <a:ext cx="148420" cy="118745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929737" y="4544987"/>
            <a:ext cx="18288" cy="405761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864671" y="4736302"/>
            <a:ext cx="148420" cy="4572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94774" y="4370058"/>
            <a:ext cx="18288" cy="623748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129708" y="4604430"/>
            <a:ext cx="148420" cy="155003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459811" y="3820507"/>
            <a:ext cx="18288" cy="1092594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94745" y="4129178"/>
            <a:ext cx="148420" cy="475252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724848" y="3587604"/>
            <a:ext cx="18288" cy="816171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59782" y="3862202"/>
            <a:ext cx="148420" cy="266975"/>
          </a:xfrm>
          <a:prstGeom prst="rect">
            <a:avLst/>
          </a:prstGeom>
          <a:solidFill>
            <a:srgbClr val="633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989885" y="3707307"/>
            <a:ext cx="18288" cy="44720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924819" y="3862202"/>
            <a:ext cx="148420" cy="13741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254922" y="3736463"/>
            <a:ext cx="18288" cy="631085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189855" y="3999613"/>
            <a:ext cx="148420" cy="104785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519959" y="3793800"/>
            <a:ext cx="18288" cy="654149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454892" y="4104399"/>
            <a:ext cx="148420" cy="45720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784995" y="3888963"/>
            <a:ext cx="18288" cy="836066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719929" y="4137352"/>
            <a:ext cx="148420" cy="339289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2050032" y="4302076"/>
            <a:ext cx="18288" cy="778418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1984966" y="4476641"/>
            <a:ext cx="148420" cy="429288"/>
          </a:xfrm>
          <a:prstGeom prst="rect">
            <a:avLst/>
          </a:prstGeom>
          <a:solidFill>
            <a:srgbClr val="224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0" y="1874519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spc="600">
                <a:solidFill>
                  <a:srgbClr val="F7B34C"/>
                </a:solidFill>
                <a:latin typeface="Consolas"/>
              </a:rPr>
              <a:t>功能簡報 · 10 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0" y="2331720"/>
            <a:ext cx="1219169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>
                <a:solidFill>
                  <a:srgbClr val="ECEEF5"/>
                </a:solidFill>
                <a:latin typeface="Microsoft JhengHei"/>
              </a:rPr>
              <a:t>台股</a:t>
            </a:r>
            <a:r>
              <a:rPr sz="7400" b="1">
                <a:solidFill>
                  <a:srgbClr val="FF5D5D"/>
                </a:solidFill>
                <a:latin typeface="Microsoft JhengHei"/>
              </a:rPr>
              <a:t>分析</a:t>
            </a:r>
            <a:r>
              <a:rPr sz="7400" b="1">
                <a:solidFill>
                  <a:srgbClr val="ECEEF5"/>
                </a:solidFill>
                <a:latin typeface="Microsoft JhengHei"/>
              </a:rPr>
              <a:t>工具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0" y="3977639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8B8FA6"/>
                </a:solidFill>
                <a:latin typeface="Microsoft JhengHei"/>
              </a:rPr>
              <a:t>看盤、警報、存股，一站整合的個人台股儀表板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43787" y="480060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71922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3787" y="480060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Consolas"/>
              </a:rPr>
              <a:t>📈 圖表分析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009747" y="480060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171922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09747" y="4800600"/>
            <a:ext cx="2103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Consolas"/>
              </a:rPr>
              <a:t>🔔 買賣點警鐘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341467" y="4800600"/>
            <a:ext cx="1371600" cy="475488"/>
          </a:xfrm>
          <a:prstGeom prst="roundRect">
            <a:avLst>
              <a:gd name="adj" fmla="val 50000"/>
            </a:avLst>
          </a:prstGeom>
          <a:solidFill>
            <a:srgbClr val="171922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41467" y="4800600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Consolas"/>
              </a:rPr>
              <a:t>💰 存股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941667" y="4800600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171922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941667" y="4800600"/>
            <a:ext cx="4206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F7B34C"/>
                </a:solidFill>
                <a:latin typeface="Consolas"/>
              </a:rPr>
              <a:t>iamlchang-max.github.io/stock-tw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01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純前端 × Apps Script 後端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8B8FA6"/>
                </a:solidFill>
                <a:latin typeface="Microsoft JhengHei"/>
              </a:rPr>
              <a:t>前端部署在 GitHub Pages，資料與背景監控交給 Google Apps Script；行情走 Yahoo Finance，經自家代理避開 IP 封鎖。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14600"/>
            <a:ext cx="5747991" cy="356616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770632"/>
            <a:ext cx="1280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00">
                <a:solidFill>
                  <a:srgbClr val="F7B34C"/>
                </a:solidFill>
                <a:latin typeface="Consolas"/>
              </a:rP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752344"/>
            <a:ext cx="391919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CEEF5"/>
                </a:solidFill>
                <a:latin typeface="Microsoft JhengHei"/>
              </a:rPr>
              <a:t>原生 HTML / CSS / JS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1150" b="0">
                <a:solidFill>
                  <a:srgbClr val="8B8FA6"/>
                </a:solidFill>
                <a:latin typeface="Microsoft JhengHei"/>
              </a:rPr>
              <a:t>index.html · app.css · app.js（GitHub Pages）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3282696"/>
            <a:ext cx="5199351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92424"/>
            <a:ext cx="1280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00">
                <a:solidFill>
                  <a:srgbClr val="F7B34C"/>
                </a:solidFill>
                <a:latin typeface="Consolas"/>
              </a:rPr>
              <a:t>後端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374136"/>
            <a:ext cx="391919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CEEF5"/>
                </a:solidFill>
                <a:latin typeface="Microsoft JhengHei"/>
              </a:rPr>
              <a:t>Google Apps Script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1150" b="0">
                <a:solidFill>
                  <a:srgbClr val="8B8FA6"/>
                </a:solidFill>
                <a:latin typeface="Microsoft JhengHei"/>
              </a:rPr>
              <a:t>gas-code.gs — 資料儲存、行情代理、背景巡檢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3904487"/>
            <a:ext cx="5199351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014216"/>
            <a:ext cx="1280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00">
                <a:solidFill>
                  <a:srgbClr val="F7B34C"/>
                </a:solidFill>
                <a:latin typeface="Consolas"/>
              </a:rPr>
              <a:t>圖表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3995928"/>
            <a:ext cx="391919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CEEF5"/>
                </a:solidFill>
                <a:latin typeface="Microsoft JhengHei"/>
              </a:rPr>
              <a:t>Lightweight Charts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1150" b="0">
                <a:solidFill>
                  <a:srgbClr val="8B8FA6"/>
                </a:solidFill>
                <a:latin typeface="Microsoft JhengHei"/>
              </a:rPr>
              <a:t>K 線 · 均線 · 布林 · MACD · RSI · 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4526280"/>
            <a:ext cx="5199351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636008"/>
            <a:ext cx="1280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00">
                <a:solidFill>
                  <a:srgbClr val="F7B34C"/>
                </a:solidFill>
                <a:latin typeface="Consolas"/>
              </a:rPr>
              <a:t>行情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617720"/>
            <a:ext cx="391919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CEEF5"/>
                </a:solidFill>
                <a:latin typeface="Microsoft JhengHei"/>
              </a:rPr>
              <a:t>Yahoo Finance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1150" b="0">
                <a:solidFill>
                  <a:srgbClr val="8B8FA6"/>
                </a:solidFill>
                <a:latin typeface="Microsoft JhengHei"/>
              </a:rPr>
              <a:t>透過 GAS proxy（TWSE MIS 會擋 Google IP）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568" y="5148072"/>
            <a:ext cx="5199351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257800"/>
            <a:ext cx="12801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100">
                <a:solidFill>
                  <a:srgbClr val="F7B34C"/>
                </a:solidFill>
                <a:latin typeface="Consolas"/>
              </a:rPr>
              <a:t>儲存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5239512"/>
            <a:ext cx="3919191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CEEF5"/>
                </a:solidFill>
                <a:latin typeface="Microsoft JhengHei"/>
              </a:rPr>
              <a:t>ScriptProperties + localStorage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1150" b="0">
                <a:solidFill>
                  <a:srgbClr val="8B8FA6"/>
                </a:solidFill>
                <a:latin typeface="Microsoft JhengHei"/>
              </a:rPr>
              <a:t>警報／持股存後端；設定與快取存本機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63559" y="2514600"/>
            <a:ext cx="4486887" cy="356616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19591" y="2715768"/>
            <a:ext cx="402968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8FA6"/>
                </a:solidFill>
                <a:latin typeface="Consolas"/>
              </a:rPr>
              <a:t>DATA 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9591" y="3172968"/>
            <a:ext cx="29324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瀏覽器（GitHub Pages）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87407" y="3172968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ECEEF5"/>
                </a:solidFill>
                <a:latin typeface="Consolas"/>
              </a:rPr>
              <a:t>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9591" y="3502151"/>
            <a:ext cx="3974823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9591" y="3630168"/>
            <a:ext cx="29324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↕ fetch / 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87407" y="3630168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FF5D5D"/>
                </a:solidFill>
                <a:latin typeface="Consolas"/>
              </a:rPr>
              <a:t>JSON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9591" y="3959352"/>
            <a:ext cx="3974823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9591" y="4087368"/>
            <a:ext cx="29324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Apps Script Web 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7407" y="4087368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ECEEF5"/>
                </a:solidFill>
                <a:latin typeface="Consolas"/>
              </a:rPr>
              <a:t>/exec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9591" y="4416552"/>
            <a:ext cx="3974823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9591" y="4544568"/>
            <a:ext cx="29324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↕ proxy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7407" y="4544568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ECEEF5"/>
                </a:solidFill>
                <a:latin typeface="Consolas"/>
              </a:rPr>
              <a:t>Yahoo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19591" y="4873752"/>
            <a:ext cx="3974823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9591" y="5001768"/>
            <a:ext cx="293240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背景 cron（每分鐘）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7407" y="5001768"/>
            <a:ext cx="12344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F7B34C"/>
                </a:solidFill>
                <a:latin typeface="Consolas"/>
              </a:rPr>
              <a:t>Telegram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9591" y="5330952"/>
            <a:ext cx="3974823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119591" y="5504688"/>
            <a:ext cx="726947" cy="310896"/>
          </a:xfrm>
          <a:prstGeom prst="roundRect">
            <a:avLst>
              <a:gd name="adj" fmla="val 30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19591" y="5504688"/>
            <a:ext cx="72694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EF5"/>
                </a:solidFill>
                <a:latin typeface="Consolas"/>
              </a:rPr>
              <a:t>doGet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74555" y="5504688"/>
            <a:ext cx="813816" cy="310896"/>
          </a:xfrm>
          <a:prstGeom prst="roundRect">
            <a:avLst>
              <a:gd name="adj" fmla="val 30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4555" y="5504688"/>
            <a:ext cx="81381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EF5"/>
                </a:solidFill>
                <a:latin typeface="Consolas"/>
              </a:rPr>
              <a:t>doPost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916387" y="5504688"/>
            <a:ext cx="1248156" cy="310896"/>
          </a:xfrm>
          <a:prstGeom prst="roundRect">
            <a:avLst>
              <a:gd name="adj" fmla="val 30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6387" y="5504688"/>
            <a:ext cx="12481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EF5"/>
                </a:solidFill>
                <a:latin typeface="Consolas"/>
              </a:rPr>
              <a:t>checkAlerts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92559" y="5504688"/>
            <a:ext cx="1248156" cy="310896"/>
          </a:xfrm>
          <a:prstGeom prst="roundRect">
            <a:avLst>
              <a:gd name="adj" fmla="val 30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92559" y="5504688"/>
            <a:ext cx="12481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ECEEF5"/>
                </a:solidFill>
                <a:latin typeface="Consolas"/>
              </a:rPr>
              <a:t>handleProxy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02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分頁概覽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三個分頁，一條動線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8B8FA6"/>
                </a:solidFill>
                <a:latin typeface="Microsoft JhengHei"/>
              </a:rPr>
              <a:t>從看圖找標的、設好買賣點監控、再回頭盤點存股損益 —— 三頁彼此串接，代號到處可點跳圖。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606040"/>
            <a:ext cx="3289706" cy="338328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" y="2606040"/>
            <a:ext cx="3033674" cy="41148"/>
          </a:xfrm>
          <a:prstGeom prst="rect">
            <a:avLst/>
          </a:prstGeom>
          <a:solidFill>
            <a:srgbClr val="6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2898648"/>
            <a:ext cx="27410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CEEF5"/>
                </a:solidFill>
                <a:latin typeface="Microsoft JhengHei"/>
              </a:rP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538728"/>
            <a:ext cx="27410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CEEF5"/>
                </a:solidFill>
                <a:latin typeface="Microsoft JhengHei"/>
              </a:rPr>
              <a:t>圖表分析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4087368"/>
            <a:ext cx="270449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B8FA6"/>
                </a:solidFill>
                <a:latin typeface="Microsoft JhengHei"/>
              </a:rPr>
              <a:t>輸入代號或搜尋名稱，繪出完整技術線圖與即時資訊。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4937760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D8CFF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K 線＋均線＋布林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5266944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D8CFF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MACD／RSI／量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5596128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D8CFF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我的持股快選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50994" y="2606040"/>
            <a:ext cx="3289706" cy="338328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9010" y="2606040"/>
            <a:ext cx="3033674" cy="41148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3602" y="2898648"/>
            <a:ext cx="27410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CEEF5"/>
                </a:solidFill>
                <a:latin typeface="Microsoft JhengHei"/>
              </a:rPr>
              <a:t>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3602" y="3538728"/>
            <a:ext cx="27410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CEEF5"/>
                </a:solidFill>
                <a:latin typeface="Microsoft JhengHei"/>
              </a:rPr>
              <a:t>買賣點警鐘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3602" y="4087368"/>
            <a:ext cx="270449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B8FA6"/>
                </a:solidFill>
                <a:latin typeface="Microsoft JhengHei"/>
              </a:rPr>
              <a:t>預載持股，設定買點與賣點，觸價由後端發 Telegram 通知。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3602" y="4937760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7B34C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買賣雙價監控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3602" y="5266944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7B34C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現價紅漲綠跌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3602" y="5596128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7B34C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背景每分鐘巡檢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0740" y="2606040"/>
            <a:ext cx="3289706" cy="338328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8756" y="2606040"/>
            <a:ext cx="3033674" cy="41148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2898648"/>
            <a:ext cx="274106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ECEEF5"/>
                </a:solidFill>
                <a:latin typeface="Microsoft JhengHei"/>
              </a:rPr>
              <a:t>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3538728"/>
            <a:ext cx="27410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CEEF5"/>
                </a:solidFill>
                <a:latin typeface="Microsoft JhengHei"/>
              </a:rPr>
              <a:t>存股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3348" y="4087368"/>
            <a:ext cx="270449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8B8FA6"/>
                </a:solidFill>
                <a:latin typeface="Microsoft JhengHei"/>
              </a:rPr>
              <a:t>盤點持股市值、損益與殖利率，圖表化投資組合分布。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4937760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5D5D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總損益＋報酬率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5266944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5D5D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市場／個人殖利率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348" y="5596128"/>
            <a:ext cx="274106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F5D5D"/>
                </a:solidFill>
                <a:latin typeface="Microsoft JhengHei"/>
              </a:rPr>
              <a:t>▸  </a:t>
            </a:r>
            <a:r>
              <a:rPr sz="1300" b="0">
                <a:solidFill>
                  <a:srgbClr val="ECEEF5"/>
                </a:solidFill>
                <a:latin typeface="Microsoft JhengHei"/>
              </a:rPr>
              <a:t>標籤篩選與排序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03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圖表分析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查詢即繪圖，技術指標一次到位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86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CEEF5"/>
                </a:solidFill>
                <a:latin typeface="Microsoft JhengHei"/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249424"/>
            <a:ext cx="438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CEEF5"/>
                </a:solidFill>
                <a:latin typeface="Microsoft JhengHei"/>
              </a:rPr>
              <a:t>代號 / 名稱查詢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615184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輸入代號或用中文名稱模糊搜尋，選 1～12 月區間，按查詢即繪圖。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4290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429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CEEF5"/>
                </a:solidFill>
                <a:latin typeface="Microsoft JhengHe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392424"/>
            <a:ext cx="438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CEEF5"/>
                </a:solidFill>
                <a:latin typeface="Microsoft JhengHei"/>
              </a:rPr>
              <a:t>即時資訊面板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758184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名稱、股價、開高低收、昨收、成交量、漲跌，紅漲綠跌一眼判讀。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5720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572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CEEF5"/>
                </a:solidFill>
                <a:latin typeface="Microsoft JhengHei"/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4535424"/>
            <a:ext cx="43859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CEEF5"/>
                </a:solidFill>
                <a:latin typeface="Microsoft JhengHei"/>
              </a:rPr>
              <a:t>四組技術圖表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4901184"/>
            <a:ext cx="438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K 線＋移動平均＋布林通道，另附 MACD、RSI 與成交量。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2286000"/>
            <a:ext cx="5071719" cy="365760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3047" y="2505456"/>
            <a:ext cx="32429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CEEF5"/>
                </a:solidFill>
                <a:latin typeface="Consolas"/>
              </a:rPr>
              <a:t>2330 台積電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7327" y="2505456"/>
            <a:ext cx="1828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>
                <a:solidFill>
                  <a:srgbClr val="FF5D5D"/>
                </a:solidFill>
                <a:latin typeface="Consolas"/>
              </a:rPr>
              <a:t>▲ 2415.00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4436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開盤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07247" y="2944368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ECEEF5"/>
                </a:solidFill>
                <a:latin typeface="Consolas"/>
              </a:rPr>
              <a:t>2402.00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7" y="3328415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最高 / 最低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7247" y="3328415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ECEEF5"/>
                </a:solidFill>
                <a:latin typeface="Consolas"/>
              </a:rPr>
              <a:t>2420 / 2398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047" y="3712463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漲跌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247" y="3712463"/>
            <a:ext cx="2468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>
                <a:solidFill>
                  <a:srgbClr val="FF5D5D"/>
                </a:solidFill>
                <a:latin typeface="Consolas"/>
              </a:rPr>
              <a:t>+18.00 (+0.75%)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3047" y="4251960"/>
            <a:ext cx="4523079" cy="1051560"/>
          </a:xfrm>
          <a:prstGeom prst="roundRect">
            <a:avLst>
              <a:gd name="adj" fmla="val 8000"/>
            </a:avLst>
          </a:prstGeom>
          <a:solidFill>
            <a:srgbClr val="10121B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91319" y="4777740"/>
            <a:ext cx="97420" cy="59910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5284" y="4837650"/>
            <a:ext cx="97420" cy="190894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39249" y="5028545"/>
            <a:ext cx="97420" cy="73198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13213" y="4898745"/>
            <a:ext cx="97420" cy="202998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87178" y="4706713"/>
            <a:ext cx="97420" cy="192032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61142" y="4669935"/>
            <a:ext cx="97420" cy="36778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35107" y="4565113"/>
            <a:ext cx="97420" cy="104821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09072" y="4412512"/>
            <a:ext cx="97420" cy="152601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3036" y="4412512"/>
            <a:ext cx="97420" cy="93286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57001" y="4505798"/>
            <a:ext cx="97420" cy="261001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30965" y="4766799"/>
            <a:ext cx="97420" cy="108929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4930" y="4875729"/>
            <a:ext cx="97420" cy="36576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78895" y="4899029"/>
            <a:ext cx="97420" cy="131216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52859" y="5030246"/>
            <a:ext cx="97420" cy="36828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26824" y="4835283"/>
            <a:ext cx="97420" cy="231790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00788" y="4613894"/>
            <a:ext cx="97420" cy="221389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74753" y="4590574"/>
            <a:ext cx="97420" cy="36576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48718" y="4546990"/>
            <a:ext cx="97420" cy="43584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22682" y="4446397"/>
            <a:ext cx="97420" cy="100592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96647" y="4446397"/>
            <a:ext cx="97420" cy="117411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70611" y="4563809"/>
            <a:ext cx="97420" cy="284556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44576" y="4848365"/>
            <a:ext cx="97420" cy="114962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18541" y="4939538"/>
            <a:ext cx="97420" cy="36576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92505" y="4939538"/>
            <a:ext cx="97420" cy="64808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66470" y="5004347"/>
            <a:ext cx="97420" cy="36576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940434" y="4762143"/>
            <a:ext cx="97420" cy="245524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53047" y="5440680"/>
            <a:ext cx="612648" cy="310896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047" y="5440680"/>
            <a:ext cx="6126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CEEF5"/>
                </a:solidFill>
                <a:latin typeface="Consolas"/>
              </a:rPr>
              <a:t>K 線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275423" y="5440680"/>
            <a:ext cx="512064" cy="310896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75423" y="5440680"/>
            <a:ext cx="51206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CEEF5"/>
                </a:solidFill>
                <a:latin typeface="Consolas"/>
              </a:rPr>
              <a:t>MA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97215" y="5440680"/>
            <a:ext cx="1216152" cy="310896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97215" y="5440680"/>
            <a:ext cx="12161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CEEF5"/>
                </a:solidFill>
                <a:latin typeface="Consolas"/>
              </a:rPr>
              <a:t>Bollinger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23095" y="5440680"/>
            <a:ext cx="713232" cy="310896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23095" y="5440680"/>
            <a:ext cx="71323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CEEF5"/>
                </a:solidFill>
                <a:latin typeface="Consolas"/>
              </a:rPr>
              <a:t>MACD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46055" y="5440680"/>
            <a:ext cx="612648" cy="310896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46055" y="5440680"/>
            <a:ext cx="6126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ECEEF5"/>
                </a:solidFill>
                <a:latin typeface="Consolas"/>
              </a:rPr>
              <a:t>RSI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04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圖表分析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我的持股快選 · 一鍵看圖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8B8FA6"/>
                </a:solidFill>
                <a:latin typeface="Microsoft JhengHei"/>
              </a:rPr>
              <a:t>左側欄自動載入存股清單，點任一檔即在本頁繪圖；新增／刪除持股會即時同步，不必切分頁。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514600"/>
            <a:ext cx="4230983" cy="356616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770632"/>
            <a:ext cx="3718919" cy="402336"/>
          </a:xfrm>
          <a:prstGeom prst="roundRect">
            <a:avLst>
              <a:gd name="adj" fmla="val 20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2770632"/>
            <a:ext cx="359090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B8FA6"/>
                </a:solidFill>
                <a:latin typeface="Microsoft JhengHei"/>
              </a:rPr>
              <a:t>🔍  搜尋名稱或代號…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37737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200">
                <a:solidFill>
                  <a:srgbClr val="8B8FA6"/>
                </a:solidFill>
                <a:latin typeface="Consolas"/>
              </a:rPr>
              <a:t>我的持股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21608"/>
            <a:ext cx="3718919" cy="384048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72160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B34C"/>
                </a:solidFill>
                <a:latin typeface="Consolas"/>
              </a:rPr>
              <a:t>2330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8568" y="3721608"/>
            <a:ext cx="25850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Microsoft JhengHei"/>
              </a:rPr>
              <a:t>台積電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178808"/>
            <a:ext cx="3718919" cy="384048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17880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B34C"/>
                </a:solidFill>
                <a:latin typeface="Consolas"/>
              </a:rPr>
              <a:t>2892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4178808"/>
            <a:ext cx="25850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Microsoft JhengHei"/>
              </a:rPr>
              <a:t>第一金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636008"/>
            <a:ext cx="3718919" cy="384048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63600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B34C"/>
                </a:solidFill>
                <a:latin typeface="Consolas"/>
              </a:rPr>
              <a:t>4961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4636008"/>
            <a:ext cx="25850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Microsoft JhengHei"/>
              </a:rPr>
              <a:t>天鈺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93208"/>
            <a:ext cx="3718919" cy="384048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09320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B34C"/>
                </a:solidFill>
                <a:latin typeface="Consolas"/>
              </a:rPr>
              <a:t>2881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58568" y="5093208"/>
            <a:ext cx="25850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Microsoft JhengHei"/>
              </a:rPr>
              <a:t>富邦金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550408"/>
            <a:ext cx="3718919" cy="384048"/>
          </a:xfrm>
          <a:prstGeom prst="roundRect">
            <a:avLst>
              <a:gd name="adj" fmla="val 25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550408"/>
            <a:ext cx="1097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7B34C"/>
                </a:solidFill>
                <a:latin typeface="Consolas"/>
              </a:rPr>
              <a:t>6456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58568" y="5550408"/>
            <a:ext cx="258506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CEEF5"/>
                </a:solidFill>
                <a:latin typeface="Microsoft JhengHei"/>
              </a:rPr>
              <a:t>GIS-KY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3711" y="265176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3711" y="2651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CEEF5"/>
                </a:solidFill>
                <a:latin typeface="Microsoft JhengHei"/>
              </a:rPr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9511" y="2615184"/>
            <a:ext cx="51809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CEEF5"/>
                </a:solidFill>
                <a:latin typeface="Microsoft JhengHei"/>
              </a:rPr>
              <a:t>點擊即繪圖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9511" y="2980944"/>
            <a:ext cx="51809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持股晶片、存股頁「看圖」鈕、警鐘頁股名，三處都能一鍵跳到本頁繪圖。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3711" y="3749039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3711" y="37490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CEEF5"/>
                </a:solidFill>
                <a:latin typeface="Microsoft JhengHei"/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9511" y="3712463"/>
            <a:ext cx="51809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CEEF5"/>
                </a:solidFill>
                <a:latin typeface="Microsoft JhengHei"/>
              </a:rPr>
              <a:t>自動同步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9511" y="4078224"/>
            <a:ext cx="51809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存股頁增刪持股後，快選清單即時更新；同代號多帳戶只列一次。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3711" y="484632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1F2230"/>
          </a:solidFill>
          <a:ln w="12700">
            <a:solidFill>
              <a:srgbClr val="383C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3711" y="4846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ECEEF5"/>
                </a:solidFill>
                <a:latin typeface="Microsoft JhengHei"/>
              </a:rPr>
              <a:t>🗂️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9511" y="4809744"/>
            <a:ext cx="51809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CEEF5"/>
                </a:solidFill>
                <a:latin typeface="Microsoft JhengHei"/>
              </a:rPr>
              <a:t>名稱對照快取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9511" y="5175504"/>
            <a:ext cx="51809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台股代號↔中文對照表本機快取 24 小時，搜尋不必每次重抓。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05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買賣點警鐘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設好價格，剩下的交給背景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8B8FA6"/>
                </a:solidFill>
                <a:latin typeface="Microsoft JhengHei"/>
              </a:rPr>
              <a:t>前端只負責設定；真正的監控與通知在 Apps Script 上每分鐘自動執行，關掉網頁也照跑。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743200"/>
            <a:ext cx="2954426" cy="274320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035808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spc="200">
                <a:solidFill>
                  <a:srgbClr val="F7B34C"/>
                </a:solidFill>
                <a:latin typeface="Consola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01568"/>
            <a:ext cx="295442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ECEEF5"/>
                </a:solidFill>
                <a:latin typeface="Microsoft JhengHei"/>
              </a:rPr>
              <a:t>✏️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24528"/>
            <a:ext cx="2954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CEEF5"/>
                </a:solidFill>
                <a:latin typeface="Microsoft JhengHei"/>
              </a:rPr>
              <a:t>設定買賣點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681728"/>
            <a:ext cx="249722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對持股填買點（跌到）或賣點（漲到），按儲存。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978" y="2743200"/>
            <a:ext cx="530352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383C50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8634" y="2743200"/>
            <a:ext cx="2954426" cy="274320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8634" y="3035808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spc="200">
                <a:solidFill>
                  <a:srgbClr val="F7B34C"/>
                </a:solidFill>
                <a:latin typeface="Consolas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8634" y="3401568"/>
            <a:ext cx="295442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ECEEF5"/>
                </a:solidFill>
                <a:latin typeface="Microsoft JhengHei"/>
              </a:rP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8634" y="4224528"/>
            <a:ext cx="2954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CEEF5"/>
                </a:solidFill>
                <a:latin typeface="Microsoft JhengHei"/>
              </a:rPr>
              <a:t>背景巡檢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7234" y="4681728"/>
            <a:ext cx="249722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GAS 每分鐘抓現價，僅交易時段 09:00–13:30。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9364" y="2743200"/>
            <a:ext cx="530352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383C50"/>
                </a:solidFill>
                <a:latin typeface="Microsoft Jheng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6020" y="2743200"/>
            <a:ext cx="2954426" cy="274320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6020" y="3035808"/>
            <a:ext cx="29544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spc="200">
                <a:solidFill>
                  <a:srgbClr val="F7B34C"/>
                </a:solidFill>
                <a:latin typeface="Consolas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6020" y="3401568"/>
            <a:ext cx="295442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>
                <a:solidFill>
                  <a:srgbClr val="ECEEF5"/>
                </a:solidFill>
                <a:latin typeface="Microsoft JhengHei"/>
              </a:rPr>
              <a:t>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6020" y="4224528"/>
            <a:ext cx="29544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ECEEF5"/>
                </a:solidFill>
                <a:latin typeface="Microsoft JhengHei"/>
              </a:rPr>
              <a:t>Telegram 通知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4620" y="4681728"/>
            <a:ext cx="249722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8B8FA6"/>
                </a:solidFill>
                <a:latin typeface="Microsoft JhengHei"/>
              </a:rPr>
              <a:t>觸價立即推播訊息，含股名、現價與觸發方向。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06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買賣點警鐘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買賣雙價，一張表管完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8B8FA6"/>
                </a:solidFill>
                <a:latin typeface="Microsoft JhengHei"/>
              </a:rPr>
              <a:t>主畫面預設載入持股，一檔一列，買點與賣點可各自設定；改價再存會自動重新武裝。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2697480"/>
          <a:ext cx="10509196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889"/>
                <a:gridCol w="1771213"/>
                <a:gridCol w="1535051"/>
                <a:gridCol w="1535051"/>
                <a:gridCol w="1535051"/>
                <a:gridCol w="2833941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代號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名稱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現價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買點 ↓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賣點 ↑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狀態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2330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台積電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5D5D"/>
                          </a:solidFill>
                          <a:latin typeface="Consolas"/>
                        </a:rPr>
                        <a:t>2415.00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1800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65A7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D8CFF"/>
                          </a:solidFill>
                          <a:latin typeface="Microsoft JhengHei"/>
                        </a:rPr>
                        <a:t>● 買點監控中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2892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第一金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5D6A0"/>
                          </a:solidFill>
                          <a:latin typeface="Consolas"/>
                        </a:rPr>
                        <a:t>33.60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28.0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65A7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F7B34C"/>
                          </a:solidFill>
                          <a:latin typeface="Microsoft JhengHei"/>
                        </a:rPr>
                        <a:t>● 買點觸發 27.7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2881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富邦金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5D5D"/>
                          </a:solidFill>
                          <a:latin typeface="Consolas"/>
                        </a:rPr>
                        <a:t>124.50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90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150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D8CFF"/>
                          </a:solidFill>
                          <a:latin typeface="Microsoft JhengHei"/>
                        </a:rPr>
                        <a:t>● 買賣監控中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4961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天鈺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5D6A0"/>
                          </a:solidFill>
                          <a:latin typeface="Consolas"/>
                        </a:rPr>
                        <a:t>176.00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565A70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220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D8CFF"/>
                          </a:solidFill>
                          <a:latin typeface="Microsoft JhengHei"/>
                        </a:rPr>
                        <a:t>● 賣點監控中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07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存股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投資組合，一眼盤點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2435275" cy="123444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459736"/>
            <a:ext cx="20695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8B8FA6"/>
                </a:solidFill>
                <a:latin typeface="Microsoft JhengHei"/>
              </a:rPr>
              <a:t>總市值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807208"/>
            <a:ext cx="20695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CEEF5"/>
                </a:solidFill>
                <a:latin typeface="Consolas"/>
              </a:rPr>
              <a:t>2.6M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2555" y="2240280"/>
            <a:ext cx="2435275" cy="123444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52011" y="2459736"/>
            <a:ext cx="20695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8B8FA6"/>
                </a:solidFill>
                <a:latin typeface="Microsoft JhengHei"/>
              </a:rPr>
              <a:t>總損益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2011" y="2807208"/>
            <a:ext cx="20695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5D5D"/>
                </a:solidFill>
                <a:latin typeface="Consolas"/>
              </a:rPr>
              <a:t>+218K (+9.1%)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863" y="2240280"/>
            <a:ext cx="2435275" cy="123444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319" y="2459736"/>
            <a:ext cx="20695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8B8FA6"/>
                </a:solidFill>
                <a:latin typeface="Microsoft JhengHei"/>
              </a:rPr>
              <a:t>年股息估算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2807208"/>
            <a:ext cx="20695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CEEF5"/>
                </a:solidFill>
                <a:latin typeface="Consolas"/>
              </a:rPr>
              <a:t>84K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171" y="2240280"/>
            <a:ext cx="2435275" cy="123444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627" y="2459736"/>
            <a:ext cx="20695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8B8FA6"/>
                </a:solidFill>
                <a:latin typeface="Microsoft JhengHei"/>
              </a:rPr>
              <a:t>平均殖利率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627" y="2807208"/>
            <a:ext cx="20695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CEEF5"/>
                </a:solidFill>
                <a:latin typeface="Consolas"/>
              </a:rPr>
              <a:t>3.2%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3749039"/>
            <a:ext cx="10509199" cy="233172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1115568" y="3977639"/>
          <a:ext cx="310896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Rectangle 19"/>
          <p:cNvSpPr/>
          <p:nvPr/>
        </p:nvSpPr>
        <p:spPr>
          <a:xfrm>
            <a:off x="4590288" y="4215383"/>
            <a:ext cx="164592" cy="164592"/>
          </a:xfrm>
          <a:prstGeom prst="rect">
            <a:avLst/>
          </a:prstGeom>
          <a:solidFill>
            <a:srgbClr val="6D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416052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CEEF5"/>
                </a:solidFill>
                <a:latin typeface="Microsoft JhengHei"/>
              </a:rPr>
              <a:t>2892 第一金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416052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8FA6"/>
                </a:solidFill>
                <a:latin typeface="Consolas"/>
              </a:rPr>
              <a:t>57.0%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90288" y="4581144"/>
            <a:ext cx="164592" cy="164592"/>
          </a:xfrm>
          <a:prstGeom prst="rect">
            <a:avLst/>
          </a:prstGeom>
          <a:solidFill>
            <a:srgbClr val="35D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82896" y="452628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CEEF5"/>
                </a:solidFill>
                <a:latin typeface="Microsoft JhengHei"/>
              </a:rPr>
              <a:t>2330 台積電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452628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8FA6"/>
                </a:solidFill>
                <a:latin typeface="Consolas"/>
              </a:rPr>
              <a:t>27.0%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4946904"/>
            <a:ext cx="164592" cy="164592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489204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CEEF5"/>
                </a:solidFill>
                <a:latin typeface="Microsoft JhengHei"/>
              </a:rPr>
              <a:t>6456 GIS-KY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489204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8FA6"/>
                </a:solidFill>
                <a:latin typeface="Consolas"/>
              </a:rPr>
              <a:t>7.9%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90288" y="5312664"/>
            <a:ext cx="164592" cy="164592"/>
          </a:xfrm>
          <a:prstGeom prst="rect">
            <a:avLst/>
          </a:prstGeom>
          <a:solidFill>
            <a:srgbClr val="FF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82896" y="525780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CEEF5"/>
                </a:solidFill>
                <a:latin typeface="Microsoft JhengHei"/>
              </a:rPr>
              <a:t>4961 天鈺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525780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8FA6"/>
                </a:solidFill>
                <a:latin typeface="Consolas"/>
              </a:rPr>
              <a:t>5.1%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90288" y="5678424"/>
            <a:ext cx="164592" cy="164592"/>
          </a:xfrm>
          <a:prstGeom prst="rect">
            <a:avLst/>
          </a:prstGeom>
          <a:solidFill>
            <a:srgbClr val="A0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5623560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CEEF5"/>
                </a:solidFill>
                <a:latin typeface="Microsoft JhengHei"/>
              </a:rPr>
              <a:t>其他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562356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8B8FA6"/>
                </a:solidFill>
                <a:latin typeface="Consolas"/>
              </a:rPr>
              <a:t>3.0%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08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存股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持股清單：損益與殖利率同框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55648"/>
            <a:ext cx="1050919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8B8FA6"/>
                </a:solidFill>
                <a:latin typeface="Microsoft JhengHei"/>
              </a:rPr>
              <a:t>現價對比成本算出損益（金額＋%，賺紅虧綠），同時列出市場殖利率與個人殖利率；可標籤篩選、依欄排序、看總計列。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2788920"/>
          <a:ext cx="1050919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10499"/>
                <a:gridCol w="1313649"/>
                <a:gridCol w="1111549"/>
                <a:gridCol w="1111549"/>
                <a:gridCol w="1313649"/>
                <a:gridCol w="2223099"/>
                <a:gridCol w="1212599"/>
                <a:gridCol w="1212599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代號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名稱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成本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現價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市值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損益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市場殖利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8B8FA6"/>
                          </a:solidFill>
                          <a:latin typeface="Consolas"/>
                        </a:rPr>
                        <a:t>個人殖利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2881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富邦金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89.00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124.50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15,563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5D5D"/>
                          </a:solidFill>
                          <a:latin typeface="Consolas"/>
                        </a:rPr>
                        <a:t>+4,438 (+39.9%)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3.41%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4.78%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2317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鴻海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294.00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237.50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23,750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35D6A0"/>
                          </a:solidFill>
                          <a:latin typeface="Consolas"/>
                        </a:rPr>
                        <a:t>−5,650 (−19.2%)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3.02%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2.44%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2330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台積電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610.00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1050.0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1,050K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5D5D"/>
                          </a:solidFill>
                          <a:latin typeface="Consolas"/>
                        </a:rPr>
                        <a:t>+440K (+72%)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1.10%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1.90%</a:t>
                      </a:r>
                    </a:p>
                  </a:txBody>
                  <a:tcPr anchor="ctr" marL="91440" marR="91440" marT="0" marB="0">
                    <a:solidFill>
                      <a:srgbClr val="17192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7B34C"/>
                          </a:solidFill>
                          <a:latin typeface="Consolas"/>
                        </a:rPr>
                        <a:t>2892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ECEEF5"/>
                          </a:solidFill>
                          <a:latin typeface="Microsoft JhengHei"/>
                        </a:rPr>
                        <a:t>第一金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28.19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33.60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508,704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5D5D"/>
                          </a:solidFill>
                          <a:latin typeface="Consolas"/>
                        </a:rPr>
                        <a:t>+81,900 (+19%)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2.83%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ECEEF5"/>
                          </a:solidFill>
                          <a:latin typeface="Consolas"/>
                        </a:rPr>
                        <a:t>3.37%</a:t>
                      </a:r>
                    </a:p>
                  </a:txBody>
                  <a:tcPr anchor="ctr" marL="91440" marR="91440" marT="0" marB="0">
                    <a:solidFill>
                      <a:srgbClr val="14161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566928"/>
            <a:ext cx="274320" cy="25603"/>
          </a:xfrm>
          <a:prstGeom prst="rect">
            <a:avLst/>
          </a:prstGeom>
          <a:solidFill>
            <a:srgbClr val="F7B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438912"/>
            <a:ext cx="7315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200">
                <a:solidFill>
                  <a:srgbClr val="F7B34C"/>
                </a:solidFill>
                <a:latin typeface="Consolas"/>
              </a:rPr>
              <a:t>09</a:t>
            </a:r>
            <a:r>
              <a:rPr sz="1250" b="0" spc="200">
                <a:solidFill>
                  <a:srgbClr val="8B8FA6"/>
                </a:solidFill>
                <a:latin typeface="Consolas"/>
              </a:rPr>
              <a:t>   後端 · 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841248"/>
            <a:ext cx="1050919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CEEF5"/>
                </a:solidFill>
                <a:latin typeface="Microsoft JhengHei"/>
              </a:rPr>
              <a:t>背景引擎與上線方式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14016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F7B34C"/>
                </a:solidFill>
                <a:latin typeface="Consolas"/>
              </a:rPr>
              <a:t>資料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2377440"/>
            <a:ext cx="39376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CEEF5"/>
                </a:solidFill>
                <a:latin typeface="Microsoft JhengHei"/>
              </a:rPr>
              <a:t>doGet 回傳 alerts＋holdings；doPost 支援警報／持股 CRUD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980944"/>
            <a:ext cx="5492087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163824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F7B34C"/>
                </a:solidFill>
                <a:latin typeface="Consolas"/>
              </a:rPr>
              <a:t>行情代理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3127248"/>
            <a:ext cx="39376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CEEF5"/>
                </a:solidFill>
                <a:latin typeface="Microsoft JhengHei"/>
              </a:rPr>
              <a:t>?proxy=url，僅白名單網域（TWSE／Yahoo）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3730752"/>
            <a:ext cx="5492087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913632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F7B34C"/>
                </a:solidFill>
                <a:latin typeface="Consolas"/>
              </a:rPr>
              <a:t>背景巡檢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877056"/>
            <a:ext cx="39376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CEEF5"/>
                </a:solidFill>
                <a:latin typeface="Microsoft JhengHei"/>
              </a:rPr>
              <a:t>checkAlerts 每分鐘跑，僅交易時段觸價發通知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480560"/>
            <a:ext cx="5492087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6634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F7B34C"/>
                </a:solidFill>
                <a:latin typeface="Consolas"/>
              </a:rPr>
              <a:t>前端部署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5728" y="4626864"/>
            <a:ext cx="39376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CEEF5"/>
                </a:solidFill>
                <a:latin typeface="Microsoft JhengHei"/>
              </a:rPr>
              <a:t>git push → GitHub Pages 約 1–2 分鐘更新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5230368"/>
            <a:ext cx="5492087" cy="7315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41324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100">
                <a:solidFill>
                  <a:srgbClr val="F7B34C"/>
                </a:solidFill>
                <a:latin typeface="Consolas"/>
              </a:rPr>
              <a:t>後端部署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5376672"/>
            <a:ext cx="393760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ECEEF5"/>
                </a:solidFill>
                <a:latin typeface="Microsoft JhengHei"/>
              </a:rPr>
              <a:t>改 gas-code.gs 需重新部署；一般 CRUD 免動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9095" y="2377440"/>
            <a:ext cx="4651351" cy="3794760"/>
          </a:xfrm>
          <a:prstGeom prst="roundRect">
            <a:avLst>
              <a:gd name="adj" fmla="val 10000"/>
            </a:avLst>
          </a:prstGeom>
          <a:solidFill>
            <a:srgbClr val="171922"/>
          </a:solidFill>
          <a:ln w="12700">
            <a:solidFill>
              <a:srgbClr val="2A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64855" y="2880360"/>
            <a:ext cx="391983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CEEF5"/>
                </a:solidFill>
                <a:latin typeface="Microsoft JhengHei"/>
              </a:rPr>
              <a:t>看盤 · 警報 · 存股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2600" b="1">
                <a:solidFill>
                  <a:srgbClr val="ECEEF5"/>
                </a:solidFill>
                <a:latin typeface="Microsoft JhengHei"/>
              </a:rPr>
              <a:t>都在一頁。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4855" y="4297680"/>
            <a:ext cx="391983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8B8FA6"/>
                </a:solidFill>
                <a:latin typeface="Microsoft JhengHei"/>
              </a:rPr>
              <a:t>純前端 + Apps Script · 無伺服器成本</a:t>
            </a:r>
            <a:r>
              <a:rPr sz="1600" b="0">
                <a:solidFill>
                  <a:srgbClr val="ECEEF5"/>
                </a:solidFill>
                <a:latin typeface="Microsoft JhengHei"/>
              </a:rPr>
              <a:t>
</a:t>
            </a:r>
            <a:r>
              <a:rPr sz="1300" b="0">
                <a:solidFill>
                  <a:srgbClr val="8B8FA6"/>
                </a:solidFill>
                <a:latin typeface="Microsoft JhengHei"/>
              </a:rPr>
              <a:t>資料自持、Telegram 即時通知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4855" y="5440680"/>
            <a:ext cx="3919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F7B34C"/>
                </a:solidFill>
                <a:latin typeface="Consolas"/>
              </a:rPr>
              <a:t>iamlchang-max.github.io/stock-tw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6272784"/>
            <a:ext cx="10509199" cy="10972"/>
          </a:xfrm>
          <a:prstGeom prst="rect">
            <a:avLst/>
          </a:prstGeom>
          <a:solidFill>
            <a:srgbClr val="2A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638251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00">
                <a:solidFill>
                  <a:srgbClr val="F7B34C"/>
                </a:solidFill>
                <a:latin typeface="Consolas"/>
              </a:rPr>
              <a:t>台股分析工具</a:t>
            </a:r>
            <a:r>
              <a:rPr sz="1050" b="0" spc="100">
                <a:solidFill>
                  <a:srgbClr val="565A70"/>
                </a:solidFill>
                <a:latin typeface="Consolas"/>
              </a:rPr>
              <a:t>  · 功能簡報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07247" y="6382512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spc="100">
                <a:solidFill>
                  <a:srgbClr val="565A70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